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62"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87775-5430-2F4D-97F7-7D971664A2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1BB9D0-77E0-5E4C-1ED4-1C6CECA17B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8CFAC8-BA38-2EBA-B046-3436B0D1128F}"/>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5" name="Footer Placeholder 4">
            <a:extLst>
              <a:ext uri="{FF2B5EF4-FFF2-40B4-BE49-F238E27FC236}">
                <a16:creationId xmlns:a16="http://schemas.microsoft.com/office/drawing/2014/main" id="{3AD73E94-7F5A-AC79-C4F3-6B646FEF7B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F04D738-94F0-490F-548D-2450FC5896D2}"/>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689931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57000-B6B7-573F-9E24-1A2A592D97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27AAA4-BE5F-F272-5A75-DE9ABACD7D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6883CB-97E3-956A-F532-54E040DCE046}"/>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5" name="Footer Placeholder 4">
            <a:extLst>
              <a:ext uri="{FF2B5EF4-FFF2-40B4-BE49-F238E27FC236}">
                <a16:creationId xmlns:a16="http://schemas.microsoft.com/office/drawing/2014/main" id="{C00E2813-5025-5F5A-5183-F0B804B0BC4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6E1FB9-1286-B360-6C8D-E590CE9640E9}"/>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1978259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9B2B7-F8EA-69EF-1F1E-AB57E546BA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CA3AFA-9382-1F54-2C3C-3844069F1B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8D7EEE-BA3E-A02B-BA06-6312103C2D4D}"/>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5" name="Footer Placeholder 4">
            <a:extLst>
              <a:ext uri="{FF2B5EF4-FFF2-40B4-BE49-F238E27FC236}">
                <a16:creationId xmlns:a16="http://schemas.microsoft.com/office/drawing/2014/main" id="{75C7218D-8B03-DFED-1B14-81AD63549E9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307DDB-BA36-FB6B-E0B8-1202B5327192}"/>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1513579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50CD1-25C8-1C4E-A106-2FCCE09965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967F56-BAD2-71E0-1B7A-A1B29BEFAB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5945DE-7237-D589-4C49-357713A9A3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A8DB0F-CAFD-2E01-3957-0B554B952B94}"/>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6" name="Footer Placeholder 5">
            <a:extLst>
              <a:ext uri="{FF2B5EF4-FFF2-40B4-BE49-F238E27FC236}">
                <a16:creationId xmlns:a16="http://schemas.microsoft.com/office/drawing/2014/main" id="{A65D53A4-743F-7E3F-FE14-88AC751504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79EE42B-07BB-BFFD-9FEA-3236925DB822}"/>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1969834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E8D47-C4DA-44C1-D076-57FEAD9FA4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AB33C2-8924-2503-AEA8-DA3D88E06E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3EB0E8-5828-C4AD-73B5-6DC9FB50DA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18970A-0C1C-2C02-9F88-1B1B051B9D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72894E-F8D3-4FA7-BFCE-C3EB889E4A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FC8B3C-FF3B-7564-7072-3529FFD3570A}"/>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8" name="Footer Placeholder 7">
            <a:extLst>
              <a:ext uri="{FF2B5EF4-FFF2-40B4-BE49-F238E27FC236}">
                <a16:creationId xmlns:a16="http://schemas.microsoft.com/office/drawing/2014/main" id="{888639CB-E40C-FD82-0AB7-E33D96805B9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360B125-BDED-7997-35B3-4CA60C4D35DC}"/>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1312308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9846F-3A3D-0FB9-5F30-23E3A0ADBF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CA2304-137F-7D2B-F921-FD7A0DFC820A}"/>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4" name="Footer Placeholder 3">
            <a:extLst>
              <a:ext uri="{FF2B5EF4-FFF2-40B4-BE49-F238E27FC236}">
                <a16:creationId xmlns:a16="http://schemas.microsoft.com/office/drawing/2014/main" id="{E12AAA1A-C6CA-CBE0-7799-10E8CFAEA23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77776E3-929F-E306-21F8-2FC977D4C843}"/>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2681258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F158B2-B1C5-D456-7E90-49684D320EDB}"/>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3" name="Footer Placeholder 2">
            <a:extLst>
              <a:ext uri="{FF2B5EF4-FFF2-40B4-BE49-F238E27FC236}">
                <a16:creationId xmlns:a16="http://schemas.microsoft.com/office/drawing/2014/main" id="{38CE1567-78A1-6E09-A3CC-48ABFE3384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CD90D61-7513-1B3E-1D8F-A927342CF265}"/>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1462896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4ED21-B27D-3156-8EEC-8C2BD8A407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C090FF-E133-F6BA-24F2-271C8A8F2A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07C34C-15B0-42F2-10B8-B0D69C8325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84025C-A9E1-9210-4DB8-FEEA75100F68}"/>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6" name="Footer Placeholder 5">
            <a:extLst>
              <a:ext uri="{FF2B5EF4-FFF2-40B4-BE49-F238E27FC236}">
                <a16:creationId xmlns:a16="http://schemas.microsoft.com/office/drawing/2014/main" id="{012E978F-6B86-6D4E-00BC-8B520C3632C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D83FE08-B050-1F5B-B032-EC3CE5841AD5}"/>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57203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47D58-0FAD-7BC5-7ECC-075A1B2C8D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1EAB57-50F3-AC45-1269-CCE13B671E2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CE9E6460-B1F6-888C-B1DF-47DB6F9DE7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E1F99C-4033-4249-250C-18F312DEE682}"/>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6" name="Footer Placeholder 5">
            <a:extLst>
              <a:ext uri="{FF2B5EF4-FFF2-40B4-BE49-F238E27FC236}">
                <a16:creationId xmlns:a16="http://schemas.microsoft.com/office/drawing/2014/main" id="{8BE4B043-32C2-EE14-A9FB-835CC975A8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003D860-5E1C-05CB-5AC6-9B3D4295CFDD}"/>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3230393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0BFB4-649C-64CA-E027-E4BE9419F3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2D0338-9E43-6D85-2289-6259A39D4A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9AADE9-EB48-ABCC-B277-86EA4E7647D5}"/>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5" name="Footer Placeholder 4">
            <a:extLst>
              <a:ext uri="{FF2B5EF4-FFF2-40B4-BE49-F238E27FC236}">
                <a16:creationId xmlns:a16="http://schemas.microsoft.com/office/drawing/2014/main" id="{894D2223-E881-ECB7-91AF-853B306C3DA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F7D56B-0470-F746-51DD-1F46F821EFEA}"/>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948170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49228A-A7F3-BEC0-ECB8-F1506956EC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B800E9-1677-FEF7-B376-9DCDA9C261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807A2-6677-8341-3912-776CF3222753}"/>
              </a:ext>
            </a:extLst>
          </p:cNvPr>
          <p:cNvSpPr>
            <a:spLocks noGrp="1"/>
          </p:cNvSpPr>
          <p:nvPr>
            <p:ph type="dt" sz="half" idx="10"/>
          </p:nvPr>
        </p:nvSpPr>
        <p:spPr/>
        <p:txBody>
          <a:bodyPr/>
          <a:lstStyle/>
          <a:p>
            <a:fld id="{2CDD6172-C354-4195-820D-30CF30563F18}" type="datetimeFigureOut">
              <a:rPr lang="en-US" smtClean="0"/>
              <a:t>10/14/2026</a:t>
            </a:fld>
            <a:endParaRPr lang="en-US" dirty="0"/>
          </a:p>
        </p:txBody>
      </p:sp>
      <p:sp>
        <p:nvSpPr>
          <p:cNvPr id="5" name="Footer Placeholder 4">
            <a:extLst>
              <a:ext uri="{FF2B5EF4-FFF2-40B4-BE49-F238E27FC236}">
                <a16:creationId xmlns:a16="http://schemas.microsoft.com/office/drawing/2014/main" id="{A4D0C518-1E05-CFAA-C6F5-2A0D2D62C88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BB9B953-E945-3845-E670-C80873946374}"/>
              </a:ext>
            </a:extLst>
          </p:cNvPr>
          <p:cNvSpPr>
            <a:spLocks noGrp="1"/>
          </p:cNvSpPr>
          <p:nvPr>
            <p:ph type="sldNum" sz="quarter" idx="12"/>
          </p:nvPr>
        </p:nvSpPr>
        <p:spPr/>
        <p:txBody>
          <a:bodyPr/>
          <a:lstStyle/>
          <a:p>
            <a:fld id="{5FDD7FD2-C0F1-459F-BE0B-FAD86514D3FB}" type="slidenum">
              <a:rPr lang="en-US" smtClean="0"/>
              <a:t>‹#›</a:t>
            </a:fld>
            <a:endParaRPr lang="en-US" dirty="0"/>
          </a:p>
        </p:txBody>
      </p:sp>
    </p:spTree>
    <p:extLst>
      <p:ext uri="{BB962C8B-B14F-4D97-AF65-F5344CB8AC3E}">
        <p14:creationId xmlns:p14="http://schemas.microsoft.com/office/powerpoint/2010/main" val="202086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3EEEEE-7AB8-1695-6010-D4E455D47A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BC01A4-ABF7-64C6-7A1D-941956C4B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DBA877-0985-C26D-F5C9-2498BB3BA9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DD6172-C354-4195-820D-30CF30563F18}" type="datetimeFigureOut">
              <a:rPr lang="en-US" smtClean="0"/>
              <a:t>10/14/2026</a:t>
            </a:fld>
            <a:endParaRPr lang="en-US" dirty="0"/>
          </a:p>
        </p:txBody>
      </p:sp>
      <p:sp>
        <p:nvSpPr>
          <p:cNvPr id="5" name="Footer Placeholder 4">
            <a:extLst>
              <a:ext uri="{FF2B5EF4-FFF2-40B4-BE49-F238E27FC236}">
                <a16:creationId xmlns:a16="http://schemas.microsoft.com/office/drawing/2014/main" id="{470F3E02-B6B4-DC9B-A22F-E7DD3A4E3F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C7156F04-B6D4-1549-30F1-F7A7B9F15C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DD7FD2-C0F1-459F-BE0B-FAD86514D3FB}" type="slidenum">
              <a:rPr lang="en-US" smtClean="0"/>
              <a:t>‹#›</a:t>
            </a:fld>
            <a:endParaRPr lang="en-US" dirty="0"/>
          </a:p>
        </p:txBody>
      </p:sp>
    </p:spTree>
    <p:extLst>
      <p:ext uri="{BB962C8B-B14F-4D97-AF65-F5344CB8AC3E}">
        <p14:creationId xmlns:p14="http://schemas.microsoft.com/office/powerpoint/2010/main" val="882432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phaedrasolutions.com/blog/agile-project-management-phases" TargetMode="External"/><Relationship Id="rId2" Type="http://schemas.openxmlformats.org/officeDocument/2006/relationships/hyperlink" Target="https://www.geeksforgeeks.org/software-engineering/agile-team-characteristics-roles-responsibilities/#roles-and-responsibilities-of-an-agile-team" TargetMode="External"/><Relationship Id="rId1" Type="http://schemas.openxmlformats.org/officeDocument/2006/relationships/slideLayout" Target="../slideLayouts/slideLayout2.xml"/><Relationship Id="rId5" Type="http://schemas.openxmlformats.org/officeDocument/2006/relationships/hyperlink" Target="https://projectmanagers.net/agile-vs-waterfall-choosing-the-right-methodology-for-your-project/" TargetMode="External"/><Relationship Id="rId4" Type="http://schemas.openxmlformats.org/officeDocument/2006/relationships/hyperlink" Target="https://www.larksuite.com/library/project-management/project-management-methodologies/waterfall-develop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3053-09D4-3F8C-8A73-01FAD7F45483}"/>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Explaining Agile Rolls </a:t>
            </a:r>
          </a:p>
        </p:txBody>
      </p:sp>
      <p:sp>
        <p:nvSpPr>
          <p:cNvPr id="3" name="Content Placeholder 2">
            <a:extLst>
              <a:ext uri="{FF2B5EF4-FFF2-40B4-BE49-F238E27FC236}">
                <a16:creationId xmlns:a16="http://schemas.microsoft.com/office/drawing/2014/main" id="{39353DAA-E30E-FB1E-BAA1-088BF633A174}"/>
              </a:ext>
            </a:extLst>
          </p:cNvPr>
          <p:cNvSpPr>
            <a:spLocks noGrp="1"/>
          </p:cNvSpPr>
          <p:nvPr>
            <p:ph idx="1"/>
          </p:nvPr>
        </p:nvSpPr>
        <p:spPr>
          <a:xfrm>
            <a:off x="838200" y="1825624"/>
            <a:ext cx="10515600" cy="4954737"/>
          </a:xfrm>
        </p:spPr>
        <p:txBody>
          <a:bodyPr>
            <a:normAutofit/>
          </a:bodyPr>
          <a:lstStyle/>
          <a:p>
            <a:pPr marL="0" indent="0">
              <a:buNone/>
            </a:pPr>
            <a:r>
              <a:rPr lang="en-US" sz="1200" dirty="0"/>
              <a:t>Here are the rolls and responsibilities of Agile Rolls:  </a:t>
            </a:r>
          </a:p>
          <a:p>
            <a:r>
              <a:rPr lang="en-US" sz="1200" dirty="0"/>
              <a:t>Product owner: The product owner is responsible for representing stakeholders and end customers. They define the product vision and roadmap. They also prioritize the  product back log as well as accept or reject the resulting work or outcome (</a:t>
            </a:r>
            <a:r>
              <a:rPr lang="en-US" sz="1200" i="1" dirty="0"/>
              <a:t> Agile Team | Characteristics, Roles &amp; Responsibilities, 2025)</a:t>
            </a:r>
            <a:r>
              <a:rPr lang="en-US" sz="1200" dirty="0"/>
              <a:t>.</a:t>
            </a:r>
          </a:p>
          <a:p>
            <a:r>
              <a:rPr lang="en-US" sz="1200" dirty="0"/>
              <a:t>Scrum Master: The Scrum Master is responsible for managing agile processes as well as removing obstacles that prevent the development team from being productive. They also facilitate meetings, encourage the team to improve its practices and promote collaboration (</a:t>
            </a:r>
            <a:r>
              <a:rPr lang="en-US" sz="1200" i="1" dirty="0"/>
              <a:t> Agile Team | Characteristics, Roles &amp; Responsibilities, 2025)</a:t>
            </a:r>
            <a:r>
              <a:rPr lang="en-US" sz="1200" dirty="0"/>
              <a:t>. </a:t>
            </a:r>
          </a:p>
          <a:p>
            <a:r>
              <a:rPr lang="en-US" sz="1200" dirty="0"/>
              <a:t>Development members and developers: The developers are a groups that are cross-functional and carries out the actual work to build the product inclemently. They also collaborate in short and highly–paced meetings to design, develop test, analyze, and implement the user stories from the product backlog (</a:t>
            </a:r>
            <a:r>
              <a:rPr lang="en-US" sz="1200" i="1" dirty="0"/>
              <a:t> Agile Team | Characteristics, Roles &amp; Responsibilities, 2025)</a:t>
            </a:r>
            <a:r>
              <a:rPr lang="en-US" sz="1200" dirty="0"/>
              <a:t>.</a:t>
            </a:r>
          </a:p>
          <a:p>
            <a:r>
              <a:rPr lang="en-US" sz="1200" dirty="0"/>
              <a:t>Stakeholders: These people provide feedback on the requirements while reviewing progress of the project and they also evaluate the final project. They also usually stay engaged and kept in the loop for allowing the project team to meet their required organization needs (</a:t>
            </a:r>
            <a:r>
              <a:rPr lang="en-US" sz="1200" i="1" dirty="0"/>
              <a:t> Agile Team | Characteristics, Roles &amp; Responsibilities, 2025)</a:t>
            </a:r>
            <a:r>
              <a:rPr lang="en-US" sz="1200" dirty="0"/>
              <a:t>. </a:t>
            </a:r>
          </a:p>
          <a:p>
            <a:pPr marL="0" indent="0">
              <a:buNone/>
            </a:pPr>
            <a:r>
              <a:rPr lang="en-US" sz="1200" dirty="0"/>
              <a:t>Integrator: The integrator is responsible for technical integration of work by the development team. Their duty is to ensure that the software/hardware components are fit properly together. The integrator also makes sure that the system meets all the quality standards and integrates smoothly with external systems</a:t>
            </a:r>
            <a:r>
              <a:rPr lang="en-US" sz="1200" i="1" dirty="0"/>
              <a:t>( Agile Team | Characteristics, Roles &amp; Responsibilities</a:t>
            </a:r>
            <a:r>
              <a:rPr lang="en-US" sz="1200" dirty="0"/>
              <a:t>, 2025) .</a:t>
            </a:r>
          </a:p>
          <a:p>
            <a:r>
              <a:rPr lang="en-US" sz="1200" dirty="0"/>
              <a:t>Independent Auditor and Tester: The independent Auditor and tester objectively evaluates the system to ensure the value of the product. They are supposed to audit the product for any bugs or viruses and flaws from an unbiased perspective. The tester identifies, defects, and works with everyone on the team to get the viruses and bugs fixed (</a:t>
            </a:r>
            <a:r>
              <a:rPr lang="en-US" sz="1200" i="1" dirty="0"/>
              <a:t> Agile Team | Characteristics, Roles &amp; Responsibilities, 2025)</a:t>
            </a:r>
            <a:r>
              <a:rPr lang="en-US" sz="1200" dirty="0"/>
              <a:t>.</a:t>
            </a:r>
          </a:p>
        </p:txBody>
      </p:sp>
    </p:spTree>
    <p:extLst>
      <p:ext uri="{BB962C8B-B14F-4D97-AF65-F5344CB8AC3E}">
        <p14:creationId xmlns:p14="http://schemas.microsoft.com/office/powerpoint/2010/main" val="3302096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210E-FD43-EA87-A321-F10446468DDC}"/>
              </a:ext>
            </a:extLst>
          </p:cNvPr>
          <p:cNvSpPr>
            <a:spLocks noGrp="1"/>
          </p:cNvSpPr>
          <p:nvPr>
            <p:ph type="title"/>
          </p:nvPr>
        </p:nvSpPr>
        <p:spPr>
          <a:xfrm>
            <a:off x="831850" y="586597"/>
            <a:ext cx="10515600" cy="1046672"/>
          </a:xfrm>
        </p:spPr>
        <p:txBody>
          <a:bodyPr>
            <a:normAutofit/>
          </a:bodyPr>
          <a:lstStyle/>
          <a:p>
            <a:pPr algn="ctr"/>
            <a:r>
              <a:rPr lang="en-US" sz="4400" dirty="0">
                <a:latin typeface="Times New Roman" panose="02020603050405020304" pitchFamily="18" charset="0"/>
                <a:cs typeface="Times New Roman" panose="02020603050405020304" pitchFamily="18" charset="0"/>
              </a:rPr>
              <a:t>Agile Phases</a:t>
            </a:r>
          </a:p>
        </p:txBody>
      </p:sp>
      <p:sp>
        <p:nvSpPr>
          <p:cNvPr id="3" name="Text Placeholder 2">
            <a:extLst>
              <a:ext uri="{FF2B5EF4-FFF2-40B4-BE49-F238E27FC236}">
                <a16:creationId xmlns:a16="http://schemas.microsoft.com/office/drawing/2014/main" id="{9606CDAC-0885-2DFB-EDB1-58669F49341A}"/>
              </a:ext>
            </a:extLst>
          </p:cNvPr>
          <p:cNvSpPr>
            <a:spLocks noGrp="1"/>
          </p:cNvSpPr>
          <p:nvPr>
            <p:ph type="body" idx="1"/>
          </p:nvPr>
        </p:nvSpPr>
        <p:spPr>
          <a:xfrm>
            <a:off x="419819" y="1633269"/>
            <a:ext cx="10927631" cy="5693433"/>
          </a:xfrm>
        </p:spPr>
        <p:txBody>
          <a:bodyPr>
            <a:noAutofit/>
          </a:bodyPr>
          <a:lstStyle/>
          <a:p>
            <a:r>
              <a:rPr lang="en-US" sz="1200" dirty="0">
                <a:solidFill>
                  <a:schemeClr val="tx1"/>
                </a:solidFill>
                <a:latin typeface="Times New Roman" panose="02020603050405020304" pitchFamily="18" charset="0"/>
                <a:cs typeface="Times New Roman" panose="02020603050405020304" pitchFamily="18" charset="0"/>
              </a:rPr>
              <a:t>Phase 1. Initiating: The initiating phase is the starting point of  the Agile project management life cycle. It is supposed to define the purpose, direction, and the boundaries of the project before any delivery work begins. This phase ensures that ownership is clear enough and that everyone knows who is responsible for what. It also helps avoid delays that is caused by unclear authority or conflicting priorities later down the road (</a:t>
            </a:r>
            <a:r>
              <a:rPr lang="en-US" sz="1200" i="1" dirty="0">
                <a:solidFill>
                  <a:schemeClr val="tx1"/>
                </a:solidFill>
              </a:rPr>
              <a:t>7 Agile Project Management Phases: Complete Lifecycle Guide, </a:t>
            </a:r>
            <a:r>
              <a:rPr lang="en-US" sz="1200" dirty="0">
                <a:solidFill>
                  <a:schemeClr val="tx1"/>
                </a:solidFill>
              </a:rPr>
              <a:t>2026</a:t>
            </a:r>
            <a:r>
              <a:rPr lang="en-US" sz="1200" dirty="0">
                <a:solidFill>
                  <a:schemeClr val="tx1"/>
                </a:solidFill>
                <a:latin typeface="Times New Roman" panose="02020603050405020304" pitchFamily="18" charset="0"/>
                <a:cs typeface="Times New Roman" panose="02020603050405020304" pitchFamily="18" charset="0"/>
              </a:rPr>
              <a:t>).</a:t>
            </a:r>
          </a:p>
          <a:p>
            <a:r>
              <a:rPr lang="en-US" sz="1200" dirty="0">
                <a:solidFill>
                  <a:schemeClr val="tx1"/>
                </a:solidFill>
                <a:latin typeface="Times New Roman" panose="02020603050405020304" pitchFamily="18" charset="0"/>
                <a:cs typeface="Times New Roman" panose="02020603050405020304" pitchFamily="18" charset="0"/>
              </a:rPr>
              <a:t>Phase 2. Planning: This phase translates the vision of the project into an actionable delivery plan. Instead of creating a fixed long-term plan, an Agile roadmap focuses on what is  needed to be built next and how to adjust the project as it evolves. The goal is to create enough structure moving forward while keeping room for change. The phase prepares the team for the first iteration and also sets direction for ones that follow (</a:t>
            </a:r>
            <a:r>
              <a:rPr lang="en-US" sz="1200" i="1" dirty="0">
                <a:solidFill>
                  <a:schemeClr val="tx1"/>
                </a:solidFill>
              </a:rPr>
              <a:t>7 Agile Project Management Phases: Complete Lifecycle Guide, </a:t>
            </a:r>
            <a:r>
              <a:rPr lang="en-US" sz="1200" dirty="0">
                <a:solidFill>
                  <a:schemeClr val="tx1"/>
                </a:solidFill>
              </a:rPr>
              <a:t>2026</a:t>
            </a:r>
            <a:r>
              <a:rPr lang="en-US" sz="1200" dirty="0">
                <a:solidFill>
                  <a:schemeClr val="tx1"/>
                </a:solidFill>
                <a:latin typeface="Times New Roman" panose="02020603050405020304" pitchFamily="18" charset="0"/>
                <a:cs typeface="Times New Roman" panose="02020603050405020304" pitchFamily="18" charset="0"/>
              </a:rPr>
              <a:t>).</a:t>
            </a:r>
          </a:p>
          <a:p>
            <a:r>
              <a:rPr lang="en-US" sz="1200" dirty="0">
                <a:solidFill>
                  <a:schemeClr val="tx1"/>
                </a:solidFill>
                <a:latin typeface="Times New Roman" panose="02020603050405020304" pitchFamily="18" charset="0"/>
                <a:cs typeface="Times New Roman" panose="02020603050405020304" pitchFamily="18" charset="0"/>
              </a:rPr>
              <a:t>Phase 3. Execution: This phase is when the team delivers and builds a product in small increments. The work is done in short cycles, called sprints, which allows teams to deliver a quality early and adapt while requirements change. The execution phase turns plans into working solutions through continuous collaboration and feedback. It is the core delivery phase of the Agile project management road (</a:t>
            </a:r>
            <a:r>
              <a:rPr lang="en-US" sz="1200" i="1" dirty="0">
                <a:solidFill>
                  <a:schemeClr val="tx1"/>
                </a:solidFill>
              </a:rPr>
              <a:t>7 Agile Project Management Phases: Complete Lifecycle Guide, </a:t>
            </a:r>
            <a:r>
              <a:rPr lang="en-US" sz="1200" dirty="0">
                <a:solidFill>
                  <a:schemeClr val="tx1"/>
                </a:solidFill>
              </a:rPr>
              <a:t>2026</a:t>
            </a:r>
            <a:r>
              <a:rPr lang="en-US" sz="1200" dirty="0">
                <a:solidFill>
                  <a:schemeClr val="tx1"/>
                </a:solidFill>
                <a:latin typeface="Times New Roman" panose="02020603050405020304" pitchFamily="18" charset="0"/>
                <a:cs typeface="Times New Roman" panose="02020603050405020304" pitchFamily="18" charset="0"/>
              </a:rPr>
              <a:t>).</a:t>
            </a:r>
          </a:p>
          <a:p>
            <a:r>
              <a:rPr lang="en-US" sz="1200" dirty="0">
                <a:solidFill>
                  <a:schemeClr val="tx1"/>
                </a:solidFill>
                <a:latin typeface="Times New Roman" panose="02020603050405020304" pitchFamily="18" charset="0"/>
                <a:cs typeface="Times New Roman" panose="02020603050405020304" pitchFamily="18" charset="0"/>
              </a:rPr>
              <a:t>Phase 4. Review &amp; Adapt: The review and adapt phase is where Agile turns delivery into learning. After each iteration, the team reviews what was built and also reflects on how the work  was done. This phase  ensures that the project will stay aligned with the costumer needs and continuously make improvement over time. This phase is one of the main reasons why Agile projects remain flexible and responsive road (</a:t>
            </a:r>
            <a:r>
              <a:rPr lang="en-US" sz="1200" i="1" dirty="0">
                <a:solidFill>
                  <a:schemeClr val="tx1"/>
                </a:solidFill>
              </a:rPr>
              <a:t>7 Agile Project Management Phases: Complete Lifecycle Guide, </a:t>
            </a:r>
            <a:r>
              <a:rPr lang="en-US" sz="1200" dirty="0">
                <a:solidFill>
                  <a:schemeClr val="tx1"/>
                </a:solidFill>
              </a:rPr>
              <a:t>2026</a:t>
            </a:r>
            <a:r>
              <a:rPr lang="en-US" sz="1200" dirty="0">
                <a:solidFill>
                  <a:schemeClr val="tx1"/>
                </a:solidFill>
                <a:latin typeface="Times New Roman" panose="02020603050405020304" pitchFamily="18" charset="0"/>
                <a:cs typeface="Times New Roman" panose="02020603050405020304" pitchFamily="18" charset="0"/>
              </a:rPr>
              <a:t>).</a:t>
            </a:r>
          </a:p>
          <a:p>
            <a:r>
              <a:rPr lang="en-US" sz="1200" dirty="0">
                <a:solidFill>
                  <a:schemeClr val="tx1"/>
                </a:solidFill>
                <a:latin typeface="Times New Roman" panose="02020603050405020304" pitchFamily="18" charset="0"/>
                <a:cs typeface="Times New Roman" panose="02020603050405020304" pitchFamily="18" charset="0"/>
              </a:rPr>
              <a:t>Phase 5. Release: The release phase is when the team delivers working software to real users. This is where the value is created during the development and becomes visible to the business and costumers. The focus shifts from building to validating, deploying, and supporting the product in a live environment. This phase does ensure that the product is stable enough, usable, and ready for real-world user (</a:t>
            </a:r>
            <a:r>
              <a:rPr lang="en-US" sz="1200" i="1" dirty="0">
                <a:solidFill>
                  <a:schemeClr val="tx1"/>
                </a:solidFill>
              </a:rPr>
              <a:t>7 Agile Project Management Phases: Complete Lifecycle Guide, </a:t>
            </a:r>
            <a:r>
              <a:rPr lang="en-US" sz="1200" dirty="0">
                <a:solidFill>
                  <a:schemeClr val="tx1"/>
                </a:solidFill>
              </a:rPr>
              <a:t>2026</a:t>
            </a:r>
            <a:r>
              <a:rPr lang="en-US" sz="1200" dirty="0">
                <a:solidFill>
                  <a:schemeClr val="tx1"/>
                </a:solidFill>
                <a:latin typeface="Times New Roman" panose="02020603050405020304" pitchFamily="18" charset="0"/>
                <a:cs typeface="Times New Roman" panose="02020603050405020304" pitchFamily="18" charset="0"/>
              </a:rPr>
              <a:t>).</a:t>
            </a:r>
          </a:p>
          <a:p>
            <a:r>
              <a:rPr lang="en-US" sz="1200" dirty="0">
                <a:solidFill>
                  <a:schemeClr val="tx1"/>
                </a:solidFill>
                <a:latin typeface="Times New Roman" panose="02020603050405020304" pitchFamily="18" charset="0"/>
                <a:cs typeface="Times New Roman" panose="02020603050405020304" pitchFamily="18" charset="0"/>
              </a:rPr>
              <a:t>Phase 6. Closure: The closure phase formally completes the Agile project. It confirms that the project goals are met and that the all agreed work has been delivered. It also provides closure for the team, the stakeholders, and the organization. It ensures that nothing important is left unresolved (</a:t>
            </a:r>
            <a:r>
              <a:rPr lang="en-US" sz="1200" i="1" dirty="0">
                <a:solidFill>
                  <a:schemeClr val="tx1"/>
                </a:solidFill>
              </a:rPr>
              <a:t>7 Agile Project Management Phases: Complete Lifecycle Guide, </a:t>
            </a:r>
            <a:r>
              <a:rPr lang="en-US" sz="1200" dirty="0">
                <a:solidFill>
                  <a:schemeClr val="tx1"/>
                </a:solidFill>
              </a:rPr>
              <a:t>2026</a:t>
            </a:r>
            <a:r>
              <a:rPr lang="en-US" sz="1200" dirty="0">
                <a:solidFill>
                  <a:schemeClr val="tx1"/>
                </a:solidFill>
                <a:latin typeface="Times New Roman" panose="02020603050405020304" pitchFamily="18" charset="0"/>
                <a:cs typeface="Times New Roman" panose="02020603050405020304" pitchFamily="18" charset="0"/>
              </a:rPr>
              <a:t>). </a:t>
            </a:r>
          </a:p>
          <a:p>
            <a:r>
              <a:rPr lang="en-US" sz="1200" dirty="0">
                <a:solidFill>
                  <a:schemeClr val="tx1"/>
                </a:solidFill>
                <a:latin typeface="Times New Roman" panose="02020603050405020304" pitchFamily="18" charset="0"/>
                <a:cs typeface="Times New Roman" panose="02020603050405020304" pitchFamily="18" charset="0"/>
              </a:rPr>
              <a:t>Phase 7. Continuous Improvement: Continuous improvement is not  a one- time activity. It is an on-going mindset in Agile. It  makes sure that teams, processes, and products continue to evolve after delivery. This phase connects from one project to the next through learning and refinement. It is what makes Agile sustainable over time (</a:t>
            </a:r>
            <a:r>
              <a:rPr lang="en-US" sz="1200" i="1" dirty="0">
                <a:solidFill>
                  <a:schemeClr val="tx1"/>
                </a:solidFill>
              </a:rPr>
              <a:t>7 Agile Project Management Phases: Complete Lifecycle Guide, </a:t>
            </a:r>
            <a:r>
              <a:rPr lang="en-US" sz="1200" dirty="0">
                <a:solidFill>
                  <a:schemeClr val="tx1"/>
                </a:solidFill>
              </a:rPr>
              <a:t>2026</a:t>
            </a:r>
            <a:r>
              <a:rPr lang="en-US" sz="1200" dirty="0">
                <a:solidFill>
                  <a:schemeClr val="tx1"/>
                </a:solidFill>
                <a:latin typeface="Times New Roman" panose="02020603050405020304" pitchFamily="18" charset="0"/>
                <a:cs typeface="Times New Roman" panose="02020603050405020304" pitchFamily="18" charset="0"/>
              </a:rPr>
              <a:t>).</a:t>
            </a:r>
          </a:p>
          <a:p>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613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EDBB-00B6-F65C-BC01-B469ADA442B1}"/>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Describing Waterfall Model</a:t>
            </a:r>
          </a:p>
        </p:txBody>
      </p:sp>
      <p:sp>
        <p:nvSpPr>
          <p:cNvPr id="3" name="Content Placeholder 2">
            <a:extLst>
              <a:ext uri="{FF2B5EF4-FFF2-40B4-BE49-F238E27FC236}">
                <a16:creationId xmlns:a16="http://schemas.microsoft.com/office/drawing/2014/main" id="{6A6DED63-8681-458D-1859-5F85E18E08C5}"/>
              </a:ext>
            </a:extLst>
          </p:cNvPr>
          <p:cNvSpPr>
            <a:spLocks noGrp="1"/>
          </p:cNvSpPr>
          <p:nvPr>
            <p:ph idx="1"/>
          </p:nvPr>
        </p:nvSpPr>
        <p:spPr/>
        <p:txBody>
          <a:bodyPr>
            <a:normAutofit/>
          </a:bodyPr>
          <a:lstStyle/>
          <a:p>
            <a:pPr marL="0" indent="0">
              <a:lnSpc>
                <a:spcPct val="200000"/>
              </a:lnSpc>
              <a:buNone/>
            </a:pPr>
            <a:r>
              <a:rPr lang="en-US" sz="1200" dirty="0">
                <a:latin typeface="Times New Roman" panose="02020603050405020304" pitchFamily="18" charset="0"/>
                <a:cs typeface="Times New Roman" panose="02020603050405020304" pitchFamily="18" charset="0"/>
              </a:rPr>
              <a:t>The Waterfall approach is most effective for projects that have stable requirements. The technology is well understood, and the outcomes are predictable. Also, the waterfall approach is an excellent approach for large-scale enterprise deployments where different departments have independence that require lock-step execution. When one team’s output is another team's input, the predictability of waterfall is often superior to the fluidly of agile. By creating clear boundaries between project stages, waterfall helps large organizations manage the complexity of hundreds of stakeholders and thousands of dependencies. Teams can pair this approach with project management tools and the broader Lark workspace to keep approvals, schedules, documents, and handoffs visible without abandoning a sequential delivery model (</a:t>
            </a:r>
            <a:r>
              <a:rPr lang="en-US" sz="1200" i="1" dirty="0">
                <a:latin typeface="Times New Roman" panose="02020603050405020304" pitchFamily="18" charset="0"/>
                <a:cs typeface="Times New Roman" panose="02020603050405020304" pitchFamily="18" charset="0"/>
              </a:rPr>
              <a:t>Waterfall Development: A Complete Guide to the Methodology</a:t>
            </a:r>
            <a:r>
              <a:rPr lang="en-US" sz="1200" dirty="0">
                <a:latin typeface="Times New Roman" panose="02020603050405020304" pitchFamily="18" charset="0"/>
                <a:cs typeface="Times New Roman" panose="02020603050405020304" pitchFamily="18" charset="0"/>
              </a:rPr>
              <a:t>, 2026).</a:t>
            </a:r>
          </a:p>
          <a:p>
            <a:pPr marL="0" indent="0">
              <a:lnSpc>
                <a:spcPct val="200000"/>
              </a:lnSpc>
              <a:buNone/>
            </a:pPr>
            <a:r>
              <a:rPr lang="en-US" sz="1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699148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6AB7-1076-8E0C-A4DA-C4463008836B}"/>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Waterfall or Agile Approach</a:t>
            </a:r>
          </a:p>
        </p:txBody>
      </p:sp>
      <p:sp>
        <p:nvSpPr>
          <p:cNvPr id="3" name="Content Placeholder 2">
            <a:extLst>
              <a:ext uri="{FF2B5EF4-FFF2-40B4-BE49-F238E27FC236}">
                <a16:creationId xmlns:a16="http://schemas.microsoft.com/office/drawing/2014/main" id="{E201F21F-D0DC-128D-BDC2-64EEAB500E4F}"/>
              </a:ext>
            </a:extLst>
          </p:cNvPr>
          <p:cNvSpPr>
            <a:spLocks noGrp="1"/>
          </p:cNvSpPr>
          <p:nvPr>
            <p:ph idx="1"/>
          </p:nvPr>
        </p:nvSpPr>
        <p:spPr/>
        <p:txBody>
          <a:bodyPr>
            <a:normAutofit/>
          </a:bodyPr>
          <a:lstStyle/>
          <a:p>
            <a:pPr marL="0" indent="0">
              <a:lnSpc>
                <a:spcPct val="200000"/>
              </a:lnSpc>
              <a:buNone/>
            </a:pPr>
            <a:r>
              <a:rPr lang="en-US" sz="1200" dirty="0">
                <a:latin typeface="Times New Roman" panose="02020603050405020304" pitchFamily="18" charset="0"/>
                <a:cs typeface="Times New Roman" panose="02020603050405020304" pitchFamily="18" charset="0"/>
              </a:rPr>
              <a:t>Choosing between Agile and Waterfall is not about which one is better. It’s about alignment. So, ask yourself these three questions:</a:t>
            </a:r>
          </a:p>
          <a:p>
            <a:pPr marL="0" indent="0">
              <a:lnSpc>
                <a:spcPct val="200000"/>
              </a:lnSpc>
              <a:buNone/>
            </a:pPr>
            <a:r>
              <a:rPr lang="en-US" sz="1200" dirty="0">
                <a:latin typeface="Times New Roman" panose="02020603050405020304" pitchFamily="18" charset="0"/>
                <a:cs typeface="Times New Roman" panose="02020603050405020304" pitchFamily="18" charset="0"/>
              </a:rPr>
              <a:t>1) Are the requirements well defined or likely to change? If you have a well documented set of requirements with little room for change, Waterfall may be the smarter choice. However, if you are building a new solution where user feedback could shape the final product, then Agile would provide the flexibility to adapt (Raymond, 2025).</a:t>
            </a:r>
            <a:endParaRPr lang="en-US" sz="1200" i="1" dirty="0">
              <a:latin typeface="Times New Roman" panose="02020603050405020304" pitchFamily="18" charset="0"/>
              <a:cs typeface="Times New Roman" panose="02020603050405020304" pitchFamily="18" charset="0"/>
            </a:endParaRPr>
          </a:p>
          <a:p>
            <a:pPr marL="0" indent="0">
              <a:lnSpc>
                <a:spcPct val="200000"/>
              </a:lnSpc>
              <a:buNone/>
            </a:pPr>
            <a:r>
              <a:rPr lang="en-US" sz="1200" dirty="0">
                <a:latin typeface="Times New Roman" panose="02020603050405020304" pitchFamily="18" charset="0"/>
                <a:cs typeface="Times New Roman" panose="02020603050405020304" pitchFamily="18" charset="0"/>
              </a:rPr>
              <a:t>2) What is the project’s timeline and budget flexibility? Waterfall projects tend to stay closer to the budget, but only if the original plan was accurate enough. Agile, on the other hand, allows you to pivot, but those pivots can impact the time and cost. If predictability is more important than adaptability, then the Waterfall approach would be your best choice (Raymond, 2025).</a:t>
            </a:r>
          </a:p>
          <a:p>
            <a:pPr marL="0" indent="0">
              <a:lnSpc>
                <a:spcPct val="200000"/>
              </a:lnSpc>
              <a:buNone/>
            </a:pPr>
            <a:r>
              <a:rPr lang="en-US" sz="1200" dirty="0">
                <a:latin typeface="Times New Roman" panose="02020603050405020304" pitchFamily="18" charset="0"/>
                <a:cs typeface="Times New Roman" panose="02020603050405020304" pitchFamily="18" charset="0"/>
              </a:rPr>
              <a:t>3) How important is stakeholder involvement? Agile encourages continuous stakeholder engagement. If your team cannot commit to frequent check-ins and iterative approvals, Agile then would work the best. However, if stakeholder availability is limited, Waterfall’s upfront planning may work better (Raymond, 2025). </a:t>
            </a:r>
          </a:p>
        </p:txBody>
      </p:sp>
    </p:spTree>
    <p:extLst>
      <p:ext uri="{BB962C8B-B14F-4D97-AF65-F5344CB8AC3E}">
        <p14:creationId xmlns:p14="http://schemas.microsoft.com/office/powerpoint/2010/main" val="4060796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3C67D-829A-637A-96D9-2402DD39C0F5}"/>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Waterfall or Agile Approach (Conclusion)</a:t>
            </a:r>
          </a:p>
        </p:txBody>
      </p:sp>
      <p:sp>
        <p:nvSpPr>
          <p:cNvPr id="3" name="Content Placeholder 2">
            <a:extLst>
              <a:ext uri="{FF2B5EF4-FFF2-40B4-BE49-F238E27FC236}">
                <a16:creationId xmlns:a16="http://schemas.microsoft.com/office/drawing/2014/main" id="{820D1098-CF4C-192E-10FD-D8BD1B022D9E}"/>
              </a:ext>
            </a:extLst>
          </p:cNvPr>
          <p:cNvSpPr>
            <a:spLocks noGrp="1"/>
          </p:cNvSpPr>
          <p:nvPr>
            <p:ph idx="1"/>
          </p:nvPr>
        </p:nvSpPr>
        <p:spPr/>
        <p:txBody>
          <a:bodyPr>
            <a:normAutofit/>
          </a:bodyPr>
          <a:lstStyle/>
          <a:p>
            <a:pPr marL="0" indent="0">
              <a:lnSpc>
                <a:spcPct val="200000"/>
              </a:lnSpc>
              <a:buNone/>
            </a:pPr>
            <a:r>
              <a:rPr lang="en-US" sz="1200" dirty="0">
                <a:latin typeface="Times New Roman" panose="02020603050405020304" pitchFamily="18" charset="0"/>
                <a:cs typeface="Times New Roman" panose="02020603050405020304" pitchFamily="18" charset="0"/>
              </a:rPr>
              <a:t>Agile and Waterfall each have a place in healthcare technology. The right choice depends on your projects scope, flexibility, stakeholder involvement, and regulatory demands. If you are dealing with static requirements, strict compliance, and predictable workflows, such as modernizing laboratory billing services, Waterfall may be the right fit. If your goal is to innovate, iterate, and deliver user-driven features when is often the case of emerging EMR software, Agile will likely serve you better (Raymond, 2025). </a:t>
            </a:r>
          </a:p>
        </p:txBody>
      </p:sp>
    </p:spTree>
    <p:extLst>
      <p:ext uri="{BB962C8B-B14F-4D97-AF65-F5344CB8AC3E}">
        <p14:creationId xmlns:p14="http://schemas.microsoft.com/office/powerpoint/2010/main" val="4291800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D1928-6BCE-2D5B-0903-AB07366B68EC}"/>
              </a:ext>
            </a:extLst>
          </p:cNvPr>
          <p:cNvSpPr>
            <a:spLocks noGrp="1"/>
          </p:cNvSpPr>
          <p:nvPr>
            <p:ph type="title"/>
          </p:nvPr>
        </p:nvSpPr>
        <p:spPr/>
        <p:txBody>
          <a:bodyPr/>
          <a:lstStyle/>
          <a:p>
            <a:pPr algn="ctr"/>
            <a:r>
              <a:rPr lang="en-US" dirty="0"/>
              <a:t> Reference page</a:t>
            </a:r>
          </a:p>
        </p:txBody>
      </p:sp>
      <p:sp>
        <p:nvSpPr>
          <p:cNvPr id="3" name="Content Placeholder 2">
            <a:extLst>
              <a:ext uri="{FF2B5EF4-FFF2-40B4-BE49-F238E27FC236}">
                <a16:creationId xmlns:a16="http://schemas.microsoft.com/office/drawing/2014/main" id="{7B7603CD-F205-C33A-DB22-4C82F7CDD9E2}"/>
              </a:ext>
            </a:extLst>
          </p:cNvPr>
          <p:cNvSpPr>
            <a:spLocks noGrp="1"/>
          </p:cNvSpPr>
          <p:nvPr>
            <p:ph idx="1"/>
          </p:nvPr>
        </p:nvSpPr>
        <p:spPr/>
        <p:txBody>
          <a:bodyPr/>
          <a:lstStyle/>
          <a:p>
            <a:endParaRPr lang="en-US" dirty="0"/>
          </a:p>
          <a:p>
            <a:pPr marL="0" indent="0" algn="ctr">
              <a:buNone/>
            </a:pPr>
            <a:r>
              <a:rPr lang="en-US" sz="1200" i="1" dirty="0"/>
              <a:t>Agile Team | Characteristics, Roles &amp; Responsibilities. </a:t>
            </a:r>
            <a:r>
              <a:rPr lang="en-US" sz="1200" dirty="0"/>
              <a:t>(2025, July 23).</a:t>
            </a:r>
            <a:endParaRPr lang="en-US" sz="1200" i="1" dirty="0"/>
          </a:p>
          <a:p>
            <a:pPr algn="ct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latin typeface="Times New Roman" panose="02020603050405020304" pitchFamily="18" charset="0"/>
                <a:cs typeface="Times New Roman" panose="02020603050405020304" pitchFamily="18" charset="0"/>
                <a:hlinkClick r:id="rId2"/>
              </a:rPr>
              <a:t>https://www.geeksforgeeks.org/software-engineering/agile-team-characteristics-roles-responsibilities/#roles-and-responsibilities-of-an-agile-team</a:t>
            </a:r>
            <a:endParaRPr lang="en-US" sz="1200" dirty="0">
              <a:latin typeface="Times New Roman" panose="02020603050405020304" pitchFamily="18" charset="0"/>
              <a:cs typeface="Times New Roman" panose="02020603050405020304" pitchFamily="18" charset="0"/>
            </a:endParaRPr>
          </a:p>
          <a:p>
            <a:pPr algn="ctr"/>
            <a:endParaRPr lang="en-US" sz="1200" dirty="0">
              <a:latin typeface="Times New Roman" panose="02020603050405020304" pitchFamily="18" charset="0"/>
              <a:cs typeface="Times New Roman" panose="02020603050405020304" pitchFamily="18" charset="0"/>
            </a:endParaRPr>
          </a:p>
          <a:p>
            <a:pPr marL="0" indent="0" algn="ctr">
              <a:buNone/>
            </a:pPr>
            <a:r>
              <a:rPr lang="en-US" sz="1200" i="1" dirty="0"/>
              <a:t>7 Agile Project Management Phases: Complete Lifecycle Guide. </a:t>
            </a:r>
            <a:r>
              <a:rPr lang="en-US" sz="1200" dirty="0"/>
              <a:t>(2026, July 16).</a:t>
            </a:r>
            <a:endParaRPr lang="en-US" sz="1200" i="1" dirty="0"/>
          </a:p>
          <a:p>
            <a:pPr marL="0" indent="0" algn="ctr">
              <a:buNone/>
            </a:pPr>
            <a:endParaRPr lang="en-US" sz="1200" i="1" dirty="0">
              <a:latin typeface="Times New Roman" panose="02020603050405020304" pitchFamily="18" charset="0"/>
              <a:cs typeface="Times New Roman" panose="02020603050405020304" pitchFamily="18" charset="0"/>
              <a:hlinkClick r:id="rId3"/>
            </a:endParaRPr>
          </a:p>
          <a:p>
            <a:pPr marL="0" indent="0" algn="ctr">
              <a:buNone/>
            </a:pPr>
            <a:r>
              <a:rPr lang="en-US" sz="1200" dirty="0">
                <a:latin typeface="Times New Roman" panose="02020603050405020304" pitchFamily="18" charset="0"/>
                <a:cs typeface="Times New Roman" panose="02020603050405020304" pitchFamily="18" charset="0"/>
                <a:hlinkClick r:id="rId3"/>
              </a:rPr>
              <a:t>https://www.phaedrasolutions.com/blog/agile-project-management-phases</a:t>
            </a:r>
            <a:endParaRPr lang="en-US" sz="1200" dirty="0">
              <a:latin typeface="Times New Roman" panose="02020603050405020304" pitchFamily="18" charset="0"/>
              <a:cs typeface="Times New Roman" panose="02020603050405020304" pitchFamily="18" charset="0"/>
            </a:endParaRPr>
          </a:p>
          <a:p>
            <a:pPr marL="0" indent="0" algn="ctr">
              <a:buNone/>
            </a:pPr>
            <a:endParaRPr lang="en-US" sz="1200" dirty="0">
              <a:latin typeface="Times New Roman" panose="02020603050405020304" pitchFamily="18" charset="0"/>
              <a:cs typeface="Times New Roman" panose="02020603050405020304" pitchFamily="18" charset="0"/>
            </a:endParaRPr>
          </a:p>
          <a:p>
            <a:pPr marL="0" indent="0" algn="ctr">
              <a:buNone/>
            </a:pPr>
            <a:r>
              <a:rPr lang="en-US" sz="1200" i="1" dirty="0">
                <a:latin typeface="Times New Roman" panose="02020603050405020304" pitchFamily="18" charset="0"/>
                <a:cs typeface="Times New Roman" panose="02020603050405020304" pitchFamily="18" charset="0"/>
              </a:rPr>
              <a:t>Waterfall Development: A Complete Guide to the Methodology</a:t>
            </a:r>
            <a:r>
              <a:rPr lang="en-US" sz="1200" dirty="0">
                <a:latin typeface="Times New Roman" panose="02020603050405020304" pitchFamily="18" charset="0"/>
                <a:cs typeface="Times New Roman" panose="02020603050405020304" pitchFamily="18" charset="0"/>
              </a:rPr>
              <a:t>. (2026, March 27). </a:t>
            </a:r>
            <a:r>
              <a:rPr lang="en-US" sz="1200" dirty="0">
                <a:latin typeface="Times New Roman" panose="02020603050405020304" pitchFamily="18" charset="0"/>
                <a:cs typeface="Times New Roman" panose="02020603050405020304" pitchFamily="18" charset="0"/>
                <a:hlinkClick r:id="rId4"/>
              </a:rPr>
              <a:t>https://www.larksuite.com/library/project-management/project-management-methodologies/waterfall-development</a:t>
            </a:r>
            <a:endParaRPr lang="en-US" sz="1200" dirty="0">
              <a:latin typeface="Times New Roman" panose="02020603050405020304" pitchFamily="18" charset="0"/>
              <a:cs typeface="Times New Roman" panose="02020603050405020304" pitchFamily="18" charset="0"/>
            </a:endParaRPr>
          </a:p>
          <a:p>
            <a:pPr marL="0" indent="0" algn="ctr">
              <a:buNone/>
            </a:pP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latin typeface="Times New Roman" panose="02020603050405020304" pitchFamily="18" charset="0"/>
                <a:cs typeface="Times New Roman" panose="02020603050405020304" pitchFamily="18" charset="0"/>
              </a:rPr>
              <a:t>Daniel, Raymond. (2025, May 4). </a:t>
            </a:r>
            <a:r>
              <a:rPr lang="en-US" sz="1200" i="1" dirty="0">
                <a:latin typeface="Times New Roman" panose="02020603050405020304" pitchFamily="18" charset="0"/>
                <a:cs typeface="Times New Roman" panose="02020603050405020304" pitchFamily="18" charset="0"/>
              </a:rPr>
              <a:t>Agile vs. Waterfall: Choosing the Right Methodology for Your Project.</a:t>
            </a:r>
          </a:p>
          <a:p>
            <a:pPr marL="0" indent="0" algn="ctr">
              <a:buNone/>
            </a:pPr>
            <a:r>
              <a:rPr lang="en-US" sz="1200" dirty="0">
                <a:latin typeface="Times New Roman" panose="02020603050405020304" pitchFamily="18" charset="0"/>
                <a:cs typeface="Times New Roman" panose="02020603050405020304" pitchFamily="18" charset="0"/>
                <a:hlinkClick r:id="rId5"/>
              </a:rPr>
              <a:t>https://projectmanagers.net/agile-vs-waterfall-choosing-the-right-methodology-for-your-project/</a:t>
            </a:r>
            <a:endParaRPr lang="en-US" sz="1200" dirty="0">
              <a:latin typeface="Times New Roman" panose="02020603050405020304" pitchFamily="18" charset="0"/>
              <a:cs typeface="Times New Roman" panose="02020603050405020304" pitchFamily="18" charset="0"/>
            </a:endParaRPr>
          </a:p>
          <a:p>
            <a:pPr marL="0" indent="0" algn="ctr">
              <a:buNone/>
            </a:pPr>
            <a:endParaRPr lang="en-US" sz="1200" dirty="0">
              <a:latin typeface="Times New Roman" panose="02020603050405020304" pitchFamily="18" charset="0"/>
              <a:cs typeface="Times New Roman" panose="02020603050405020304" pitchFamily="18" charset="0"/>
            </a:endParaRPr>
          </a:p>
          <a:p>
            <a:pPr marL="0" indent="0" algn="ctr">
              <a:buNone/>
            </a:pPr>
            <a:endParaRPr lang="en-US" sz="1200" dirty="0">
              <a:latin typeface="Times New Roman" panose="02020603050405020304" pitchFamily="18" charset="0"/>
              <a:cs typeface="Times New Roman" panose="02020603050405020304" pitchFamily="18" charset="0"/>
            </a:endParaRPr>
          </a:p>
          <a:p>
            <a:pPr algn="ct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608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430</TotalTime>
  <Words>1548</Words>
  <Application>Microsoft Office PowerPoint</Application>
  <PresentationFormat>Widescreen</PresentationFormat>
  <Paragraphs>42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Times New Roman</vt:lpstr>
      <vt:lpstr>Office Theme</vt:lpstr>
      <vt:lpstr>Explaining Agile Rolls </vt:lpstr>
      <vt:lpstr>Agile Phases</vt:lpstr>
      <vt:lpstr>Describing Waterfall Model</vt:lpstr>
      <vt:lpstr>Waterfall or Agile Approach</vt:lpstr>
      <vt:lpstr>Waterfall or Agile Approach (Conclusion)</vt:lpstr>
      <vt:lpstr> Reference page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Uhls</dc:creator>
  <cp:lastModifiedBy>Nathan Uhls</cp:lastModifiedBy>
  <cp:revision>5</cp:revision>
  <dcterms:created xsi:type="dcterms:W3CDTF">2026-10-13T01:56:12Z</dcterms:created>
  <dcterms:modified xsi:type="dcterms:W3CDTF">2026-10-14T11:35:15Z</dcterms:modified>
</cp:coreProperties>
</file>